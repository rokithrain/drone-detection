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0876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/>
            </a:pPr>
            <a:r>
              <a:t>Drone Detection Using YOLOv8n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80160" y="2743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/>
            </a:pPr>
            <a:r>
              <a:t>YOLOv8n • Single-Class Object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75488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/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Automatically detect drones in images using computer vision.</a:t>
            </a:r>
          </a:p>
          <a:p>
            <a:pPr>
              <a:spcAft>
                <a:spcPts val="1000"/>
              </a:spcAft>
              <a:defRPr sz="2100"/>
            </a:pPr>
            <a:r>
              <a:t>Return a bounding box around each detected drone.</a:t>
            </a:r>
          </a:p>
          <a:p>
            <a:pPr>
              <a:spcAft>
                <a:spcPts val="1000"/>
              </a:spcAft>
              <a:defRPr sz="2100"/>
            </a:pPr>
            <a:r>
              <a:t>Avoid treating every flying object as a drone.</a:t>
            </a:r>
          </a:p>
          <a:p>
            <a:pPr>
              <a:spcAft>
                <a:spcPts val="1000"/>
              </a:spcAft>
              <a:defRPr sz="2100"/>
            </a:pPr>
            <a:r>
              <a:t>Build a lightweight model that can train and run on consumer GPU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Dataset &amp; Data Preparation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1,785</a:t>
            </a:r>
          </a:p>
          <a:p>
            <a:pPr algn="ctr">
              <a:defRPr sz="1300"/>
            </a:pPr>
            <a:r>
              <a:t>Original images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2,228</a:t>
            </a:r>
          </a:p>
          <a:p>
            <a:pPr algn="ctr">
              <a:defRPr sz="1300"/>
            </a:pPr>
            <a:r>
              <a:t>Original boxes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1,607</a:t>
            </a:r>
          </a:p>
          <a:p>
            <a:pPr algn="ctr">
              <a:defRPr sz="1300"/>
            </a:pPr>
            <a:r>
              <a:t>Train images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228</a:t>
            </a:r>
          </a:p>
          <a:p>
            <a:pPr algn="ctr">
              <a:defRPr sz="1300"/>
            </a:pPr>
            <a:r>
              <a:t>Test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Single class: drone (class ID 0).</a:t>
            </a:r>
          </a:p>
          <a:p>
            <a:pPr>
              <a:spcAft>
                <a:spcPts val="1000"/>
              </a:spcAft>
              <a:defRPr sz="1800"/>
            </a:pPr>
            <a:r>
              <a:t>Validation: 287 images / 157 labeled instances.</a:t>
            </a:r>
          </a:p>
          <a:p>
            <a:pPr>
              <a:spcAft>
                <a:spcPts val="1000"/>
              </a:spcAft>
              <a:defRPr sz="1800"/>
            </a:pPr>
            <a:r>
              <a:t>Test: 228 images / 149 labeled instances.</a:t>
            </a:r>
          </a:p>
          <a:p>
            <a:pPr>
              <a:spcAft>
                <a:spcPts val="1000"/>
              </a:spcAft>
              <a:defRPr sz="1800"/>
            </a:pPr>
            <a:r>
              <a:t>Dataset split was corrected after discovering empty validation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Model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Model: YOLOv8n (nano).</a:t>
            </a:r>
          </a:p>
          <a:p>
            <a:pPr>
              <a:spcAft>
                <a:spcPts val="1000"/>
              </a:spcAft>
              <a:defRPr sz="2100"/>
            </a:pPr>
            <a:r>
              <a:t>50 training epochs • batch size 16 • 640×640 images.</a:t>
            </a:r>
          </a:p>
          <a:p>
            <a:pPr>
              <a:spcAft>
                <a:spcPts val="1000"/>
              </a:spcAft>
              <a:defRPr sz="2100"/>
            </a:pPr>
            <a:r>
              <a:t>GPU: NVIDIA GeForce RTX 4060 Laptop GPU, 8 GB VRAM.</a:t>
            </a:r>
          </a:p>
          <a:p>
            <a:pPr>
              <a:spcAft>
                <a:spcPts val="1000"/>
              </a:spcAft>
              <a:defRPr sz="2100"/>
            </a:pPr>
            <a:r>
              <a:t>Training time: 11.2 minutes.</a:t>
            </a:r>
          </a:p>
          <a:p>
            <a:pPr>
              <a:spcAft>
                <a:spcPts val="1000"/>
              </a:spcAft>
              <a:defRPr sz="2100"/>
            </a:pPr>
            <a:r>
              <a:t>Best weights saved as runs/detect/drone_yolov8n/weights/best.pt.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Detection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2377440"/>
            <a:ext cx="155448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Dataset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075688" y="2633472"/>
            <a:ext cx="347472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1448" y="2377440"/>
            <a:ext cx="155448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YOLO labels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014215" y="2633472"/>
            <a:ext cx="347472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79976" y="2377440"/>
            <a:ext cx="155448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Train YOLOv8n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52744" y="2633472"/>
            <a:ext cx="347472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18504" y="2377440"/>
            <a:ext cx="155448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Validate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91272" y="2633472"/>
            <a:ext cx="347472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57032" y="2377440"/>
            <a:ext cx="155448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Test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829800" y="2633472"/>
            <a:ext cx="347472" cy="4572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95560" y="2377440"/>
            <a:ext cx="1554480" cy="10515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/>
            </a:pPr>
            <a:r>
              <a:t>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Important Dataset Debugging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Initial run produced 0.0 precision, recall, mAP@50 and mAP@50–95.</a:t>
            </a:r>
          </a:p>
          <a:p>
            <a:pPr>
              <a:spcAft>
                <a:spcPts val="1000"/>
              </a:spcAft>
              <a:defRPr sz="1900"/>
            </a:pPr>
            <a:r>
              <a:t>Investigation showed that validation label files were empty.</a:t>
            </a:r>
          </a:p>
          <a:p>
            <a:pPr>
              <a:spcAft>
                <a:spcPts val="1000"/>
              </a:spcAft>
              <a:defRPr sz="1900"/>
            </a:pPr>
            <a:r>
              <a:t>A detector cannot be evaluated meaningfully if validation images have no ground-truth objects.</a:t>
            </a:r>
          </a:p>
          <a:p>
            <a:pPr>
              <a:spcAft>
                <a:spcPts val="1000"/>
              </a:spcAft>
              <a:defRPr sz="1900"/>
            </a:pPr>
            <a:r>
              <a:t>The dataset was re-split so labeled drone examples were present in validation and test.</a:t>
            </a:r>
          </a:p>
          <a:p>
            <a:pPr>
              <a:spcAft>
                <a:spcPts val="1000"/>
              </a:spcAft>
              <a:defRPr sz="1900"/>
            </a:pPr>
            <a:r>
              <a:t>After correction, the model produced meaningful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Validation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58.4%</a:t>
            </a:r>
          </a:p>
          <a:p>
            <a:pPr algn="ctr">
              <a:defRPr sz="1300"/>
            </a:pPr>
            <a:r>
              <a:t>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74.2%</a:t>
            </a:r>
          </a:p>
          <a:p>
            <a:pPr algn="ctr">
              <a:defRPr sz="1300"/>
            </a:pPr>
            <a:r>
              <a:t>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63.7%</a:t>
            </a:r>
          </a:p>
          <a:p>
            <a:pPr algn="ctr">
              <a:defRPr sz="1300"/>
            </a:pPr>
            <a:r>
              <a:t>mAP@50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41.6%</a:t>
            </a:r>
          </a:p>
          <a:p>
            <a:pPr algn="ctr">
              <a:defRPr sz="1300"/>
            </a:pPr>
            <a:r>
              <a:t>mAP@50–95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Best model weights were selected using validation performance.</a:t>
            </a:r>
          </a:p>
          <a:p>
            <a:pPr>
              <a:spcAft>
                <a:spcPts val="1000"/>
              </a:spcAft>
              <a:defRPr sz="1900"/>
            </a:pPr>
            <a:r>
              <a:t>Metrics are calculated on 287 validation images containing 157 labeled instances.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Final Test Results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75.8%</a:t>
            </a:r>
          </a:p>
          <a:p>
            <a:pPr algn="ctr">
              <a:defRPr sz="1300"/>
            </a:pPr>
            <a:r>
              <a:t>Precision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78.5%</a:t>
            </a:r>
          </a:p>
          <a:p>
            <a:pPr algn="ctr">
              <a:defRPr sz="1300"/>
            </a:pPr>
            <a:r>
              <a:t>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82.0%</a:t>
            </a:r>
          </a:p>
          <a:p>
            <a:pPr algn="ctr">
              <a:defRPr sz="1300"/>
            </a:pPr>
            <a:r>
              <a:t>mAP@50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1463040"/>
            <a:ext cx="251460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700" b="1"/>
            </a:pPr>
            <a:r>
              <a:t>51.3%</a:t>
            </a:r>
          </a:p>
          <a:p>
            <a:pPr algn="ctr">
              <a:defRPr sz="1300"/>
            </a:pPr>
            <a:r>
              <a:t>mAP@50–95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Held-out test set: 228 images / 149 labeled drone instances.</a:t>
            </a:r>
          </a:p>
          <a:p>
            <a:pPr>
              <a:spcAft>
                <a:spcPts val="1000"/>
              </a:spcAft>
              <a:defRPr sz="1800"/>
            </a:pPr>
            <a:r>
              <a:t>mAP@50 of 82.0% indicates strong detection performance at IoU 0.50.</a:t>
            </a:r>
          </a:p>
          <a:p>
            <a:pPr>
              <a:spcAft>
                <a:spcPts val="1000"/>
              </a:spcAft>
              <a:defRPr sz="1800"/>
            </a:pPr>
            <a:r>
              <a:t>mAP@50–95 of 51.3% reflects the stricter localization requirement.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Small dataset compared with production-scale detection datasets.</a:t>
            </a:r>
          </a:p>
          <a:p>
            <a:pPr>
              <a:spcAft>
                <a:spcPts val="1000"/>
              </a:spcAft>
              <a:defRPr sz="1900"/>
            </a:pPr>
            <a:r>
              <a:t>Single-class detector; it does not explicitly classify birds, helicopters and airplanes.</a:t>
            </a:r>
          </a:p>
          <a:p>
            <a:pPr>
              <a:spcAft>
                <a:spcPts val="1000"/>
              </a:spcAft>
              <a:defRPr sz="1900"/>
            </a:pPr>
            <a:r>
              <a:t>Small/distant drones and unseen environments may be harder to detect.</a:t>
            </a:r>
          </a:p>
          <a:p>
            <a:pPr>
              <a:spcAft>
                <a:spcPts val="1000"/>
              </a:spcAft>
              <a:defRPr sz="1900"/>
            </a:pPr>
            <a:r>
              <a:t>Future work: more diverse data, stronger augmentation, hyperparameter tuning, larger YOLO variants, and real-time video testing.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Successfully trained a YOLOv8n drone detector from a small dataset.</a:t>
            </a:r>
          </a:p>
          <a:p>
            <a:pPr>
              <a:spcAft>
                <a:spcPts val="1000"/>
              </a:spcAft>
              <a:defRPr sz="2000"/>
            </a:pPr>
            <a:r>
              <a:t>Correct data splitting was critical to obtaining meaningful evaluation.</a:t>
            </a:r>
          </a:p>
          <a:p>
            <a:pPr>
              <a:spcAft>
                <a:spcPts val="1000"/>
              </a:spcAft>
              <a:defRPr sz="2000"/>
            </a:pPr>
            <a:r>
              <a:t>Final held-out test performance: 82.0% mAP@50 and 78.5% recall.</a:t>
            </a:r>
          </a:p>
          <a:p>
            <a:pPr>
              <a:spcAft>
                <a:spcPts val="1000"/>
              </a:spcAft>
              <a:defRPr sz="2000"/>
            </a:pPr>
            <a:r>
              <a:t>The model is lightweight and suitable as a proof-of-concept for drone detection.</a:t>
            </a:r>
          </a:p>
          <a:p>
            <a:pPr>
              <a:spcAft>
                <a:spcPts val="1000"/>
              </a:spcAft>
              <a:defRPr sz="2000"/>
            </a:pPr>
            <a:r>
              <a:t>Best model: runs/detect/drone_yolov8n/weights/best.pt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